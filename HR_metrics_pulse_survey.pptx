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414"/>
                </a:solidFill>
              </a:rPr>
              <a:t>HR-метрики по пульс-опросу: динамика состояния сотрудников</a:t>
            </a:r>
          </a:p>
        </p:txBody>
      </p:sp>
      <p:pic>
        <p:nvPicPr>
          <p:cNvPr id="3" name="Picture 2" descr="avg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81360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0749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Выводы (за год):</a:t>
            </a:r>
          </a:p>
          <a:p>
            <a:pPr lvl="1">
              <a:defRPr sz="1300"/>
            </a:pPr>
            <a:r>
              <a:t>Средняя оценка колеблется в диапазоне 3,80–4,44.</a:t>
            </a:r>
          </a:p>
          <a:p>
            <a:pPr lvl="1">
              <a:defRPr sz="1300"/>
            </a:pPr>
            <a:r>
              <a:t>Минимум — июнь: 3,80; максимум — ноябрь: 4,44.</a:t>
            </a:r>
          </a:p>
          <a:p>
            <a:pPr lvl="1">
              <a:defRPr sz="1300"/>
            </a:pPr>
            <a:r>
              <a:t>В конце года наблюдается восстановление и стабилизация на уровне ~4,3.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414"/>
                </a:solidFill>
              </a:rPr>
              <a:t>Декабрь: распределение оценок состояния (1–5)</a:t>
            </a:r>
          </a:p>
        </p:txBody>
      </p:sp>
      <p:pic>
        <p:nvPicPr>
          <p:cNvPr id="3" name="Picture 2" descr="de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7498079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3716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Выводы (декабрь):</a:t>
            </a:r>
          </a:p>
          <a:p>
            <a:pPr lvl="1">
              <a:defRPr sz="1300"/>
            </a:pPr>
            <a:r>
              <a:t>48% сотрудников поставили 5, ещё 40% — 4 (в сумме 88% оценок 4–5).</a:t>
            </a:r>
          </a:p>
          <a:p>
            <a:pPr lvl="1">
              <a:defRPr sz="1300"/>
            </a:pPr>
            <a:r>
              <a:t>Оценки 1 отсутствуют; 2–3 составляют 12% (точки внимания).</a:t>
            </a:r>
          </a:p>
          <a:p>
            <a:pPr lvl="1">
              <a:defRPr sz="1300"/>
            </a:pPr>
            <a:r>
              <a:t>Рекомендуется точечно разобраться с причинами низких оценок (индивидуальные интервью/анонимные комментарии).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414"/>
                </a:solidFill>
              </a:rPr>
              <a:t>Средняя оценка состояния за год по профессиям</a:t>
            </a:r>
          </a:p>
        </p:txBody>
      </p:sp>
      <p:pic>
        <p:nvPicPr>
          <p:cNvPr id="3" name="Picture 2" descr="avg_by_prof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81360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0749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Выводы (по профессиям):</a:t>
            </a:r>
          </a:p>
          <a:p>
            <a:pPr lvl="1">
              <a:defRPr sz="1300"/>
            </a:pPr>
            <a:r>
              <a:t>Наивысшие средние значения: Chief Product Officer (4,67), HR-менеджер (4,50), Тестировщик (4,46).</a:t>
            </a:r>
          </a:p>
          <a:p>
            <a:pPr lvl="1">
              <a:defRPr sz="1300"/>
            </a:pPr>
            <a:r>
              <a:t>Наиболее низкое среднее значение: Системный аналитик (2,83) — высокий риск выгорания/демотивации.</a:t>
            </a:r>
          </a:p>
          <a:p>
            <a:pPr lvl="1">
              <a:defRPr sz="1300"/>
            </a:pPr>
            <a:r>
              <a:t>Следующий шаг: проверить нагрузку, роль в процессах и качество взаимодействия в командах с низкими показателями.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